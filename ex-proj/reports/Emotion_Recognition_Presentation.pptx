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286000"/>
            <a:ext cx="12191695" cy="29260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Calibri"/>
              </a:defRPr>
            </a:pPr>
            <a:r>
              <a:t>Emotion Recognition from 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37744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EBF5FB"/>
                </a:solidFill>
                <a:latin typeface="Calibri"/>
              </a:defRPr>
            </a:pPr>
            <a:r>
              <a:t>Classical ML · RNN · Transformers · XAI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4747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85C1E9"/>
                </a:solidFill>
                <a:latin typeface="Calibri"/>
              </a:defRPr>
            </a:pPr>
            <a:r>
              <a:t>Anger · Joy · Sadness · Fear — 3 Datasets Comparison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4864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7F8C8D"/>
                </a:solidFill>
                <a:latin typeface="Calibri"/>
              </a:defRPr>
            </a:pPr>
            <a:r>
              <a:t>Project Report · May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82880"/>
            <a:ext cx="12191695" cy="8229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Project Goals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Build and compare emotion classification models across 3 approaches: classical ML, RNN, Transformers</a:t>
            </a:r>
          </a:p>
          <a:p>
            <a:pPr>
              <a:spcAft>
                <a:spcPts val="4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4 target emotions: anger, joy, sadness, fear</a:t>
            </a:r>
          </a:p>
          <a:p>
            <a:pPr>
              <a:spcAft>
                <a:spcPts val="4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Evaluate on 3 datasets: Combined (60k balanced), ISEAR (4.3k), GoEmotions (11k)</a:t>
            </a:r>
          </a:p>
          <a:p>
            <a:pPr>
              <a:spcAft>
                <a:spcPts val="4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Analyze model generalization on out-of-domain data</a:t>
            </a:r>
          </a:p>
          <a:p>
            <a:pPr>
              <a:spcAft>
                <a:spcPts val="4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Apply XAI techniques (LIME, Integrated Gradients) for model interpretability</a:t>
            </a:r>
          </a:p>
          <a:p>
            <a:pPr>
              <a:spcAft>
                <a:spcPts val="4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Identify best model considering accuracy, generalization, and explainability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82880"/>
            <a:ext cx="12191695" cy="8229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Datasets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1152144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371600"/>
                <a:gridCol w="1097280"/>
                <a:gridCol w="1097280"/>
                <a:gridCol w="1097280"/>
                <a:gridCol w="1097280"/>
                <a:gridCol w="4114800"/>
              </a:tblGrid>
              <a:tr h="57150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Dataset</a:t>
                      </a:r>
                    </a:p>
                  </a:txBody>
                  <a:tcPr anchor="ctr">
                    <a:solidFill>
                      <a:srgbClr val="2980B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Total Samples</a:t>
                      </a:r>
                    </a:p>
                  </a:txBody>
                  <a:tcPr anchor="ctr">
                    <a:solidFill>
                      <a:srgbClr val="2980B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Anger</a:t>
                      </a:r>
                    </a:p>
                  </a:txBody>
                  <a:tcPr anchor="ctr">
                    <a:solidFill>
                      <a:srgbClr val="2980B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Joy</a:t>
                      </a:r>
                    </a:p>
                  </a:txBody>
                  <a:tcPr anchor="ctr">
                    <a:solidFill>
                      <a:srgbClr val="2980B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Sadness</a:t>
                      </a:r>
                    </a:p>
                  </a:txBody>
                  <a:tcPr anchor="ctr">
                    <a:solidFill>
                      <a:srgbClr val="2980B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Fear</a:t>
                      </a:r>
                    </a:p>
                  </a:txBody>
                  <a:tcPr anchor="ctr">
                    <a:solidFill>
                      <a:srgbClr val="2980B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Source</a:t>
                      </a:r>
                    </a:p>
                  </a:txBody>
                  <a:tcPr anchor="ctr">
                    <a:solidFill>
                      <a:srgbClr val="2980B9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Combined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60,000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15,000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15,000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15,000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15,000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kushagra3204/sentiment-and-emotion-analysis-dataset</a:t>
                      </a:r>
                    </a:p>
                  </a:txBody>
                  <a:tcPr anchor="ctr"/>
                </a:tc>
              </a:tr>
              <a:tr h="5715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ISEAR</a:t>
                      </a:r>
                    </a:p>
                  </a:txBody>
                  <a:tcPr anchor="ctr"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4,284</a:t>
                      </a:r>
                    </a:p>
                  </a:txBody>
                  <a:tcPr anchor="ctr"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1,078</a:t>
                      </a:r>
                    </a:p>
                  </a:txBody>
                  <a:tcPr anchor="ctr"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1,080</a:t>
                      </a:r>
                    </a:p>
                  </a:txBody>
                  <a:tcPr anchor="ctr"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1,054</a:t>
                      </a:r>
                    </a:p>
                  </a:txBody>
                  <a:tcPr anchor="ctr"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1,072</a:t>
                      </a:r>
                    </a:p>
                  </a:txBody>
                  <a:tcPr anchor="ctr"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faisalsanto007/isear-dataset</a:t>
                      </a:r>
                    </a:p>
                  </a:txBody>
                  <a:tcPr anchor="ctr">
                    <a:solidFill>
                      <a:srgbClr val="EBF5FB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GoEmotions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11,092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3,833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3,317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2,757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1,185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debarshichanda/goemotions</a:t>
                      </a: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31520" y="3840480"/>
            <a:ext cx="10515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2C3E50"/>
                </a:solidFill>
                <a:latin typeface="Calibri"/>
              </a:defRPr>
            </a:pPr>
            <a:r>
              <a:t>Combined: 6-emotion dataset (422k sentences), filtered to 4 emotions, balanced to 60k (15k/class)</a:t>
            </a:r>
          </a:p>
          <a:p>
            <a:pPr>
              <a:spcAft>
                <a:spcPts val="400"/>
              </a:spcAft>
              <a:defRPr sz="1600">
                <a:solidFill>
                  <a:srgbClr val="2C3E50"/>
                </a:solidFill>
                <a:latin typeface="Calibri"/>
              </a:defRPr>
            </a:pPr>
            <a:r>
              <a:t>ISEAR: psychological questionnaire dataset, naturally balanced</a:t>
            </a:r>
          </a:p>
          <a:p>
            <a:pPr>
              <a:spcAft>
                <a:spcPts val="400"/>
              </a:spcAft>
              <a:defRPr sz="1600">
                <a:solidFill>
                  <a:srgbClr val="2C3E50"/>
                </a:solidFill>
                <a:latin typeface="Calibri"/>
              </a:defRPr>
            </a:pPr>
            <a:r>
              <a:t>GoEmotions: Reddit comments, imbalanced — fear underrepresented (1,185), anger dominant (3,833)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82880"/>
            <a:ext cx="12191695" cy="8229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Data Distribution</a:t>
            </a:r>
          </a:p>
        </p:txBody>
      </p:sp>
      <p:pic>
        <p:nvPicPr>
          <p:cNvPr id="4" name="Picture 3" descr="dataset_distribu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0"/>
            <a:ext cx="11612880" cy="3200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475488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2C3E50"/>
                </a:solidFill>
                <a:latin typeface="Calibri"/>
              </a:defRPr>
            </a:pPr>
            <a:r>
              <a:t>Combined train set: perfectly balanced (42k total after split)</a:t>
            </a:r>
          </a:p>
          <a:p>
            <a:pPr>
              <a:spcAft>
                <a:spcPts val="400"/>
              </a:spcAft>
              <a:defRPr sz="1600">
                <a:solidFill>
                  <a:srgbClr val="2C3E50"/>
                </a:solidFill>
                <a:latin typeface="Calibri"/>
              </a:defRPr>
            </a:pPr>
            <a:r>
              <a:t>ISEAR: nearly balanced (1,054–1,080 per class)</a:t>
            </a:r>
          </a:p>
          <a:p>
            <a:pPr>
              <a:spcAft>
                <a:spcPts val="400"/>
              </a:spcAft>
              <a:defRPr sz="1600">
                <a:solidFill>
                  <a:srgbClr val="2C3E50"/>
                </a:solidFill>
                <a:latin typeface="Calibri"/>
              </a:defRPr>
            </a:pPr>
            <a:r>
              <a:t>GoEmotions: imbalanced — fear has only 1,185 samples vs 3,833 anger</a:t>
            </a:r>
          </a:p>
          <a:p>
            <a:pPr>
              <a:spcAft>
                <a:spcPts val="400"/>
              </a:spcAft>
              <a:defRPr sz="1600">
                <a:solidFill>
                  <a:srgbClr val="2C3E50"/>
                </a:solidFill>
                <a:latin typeface="Calibri"/>
              </a:defRPr>
            </a:pPr>
            <a:r>
              <a:t>Train/val/test split: 70/15/15% stratified by class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82880"/>
            <a:ext cx="12191695" cy="8229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Methodology &amp; Models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12471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2C3E50"/>
                </a:solidFill>
                <a:latin typeface="Calibri"/>
              </a:defRPr>
            </a:pPr>
            <a:r>
              <a:t>Classical ML (TF-IDF + Classifier):</a:t>
            </a:r>
          </a:p>
          <a:p>
            <a:pPr>
              <a:spcAft>
                <a:spcPts val="400"/>
              </a:spcAft>
              <a:defRPr sz="1600">
                <a:solidFill>
                  <a:srgbClr val="2C3E50"/>
                </a:solidFill>
                <a:latin typeface="Calibri"/>
              </a:defRPr>
            </a:pPr>
            <a:r>
              <a:t>  • SVM (LinearSVC, class_weight='balanced')</a:t>
            </a:r>
          </a:p>
          <a:p>
            <a:pPr>
              <a:spcAft>
                <a:spcPts val="400"/>
              </a:spcAft>
              <a:defRPr sz="1600">
                <a:solidFill>
                  <a:srgbClr val="2C3E50"/>
                </a:solidFill>
                <a:latin typeface="Calibri"/>
              </a:defRPr>
            </a:pPr>
            <a:r>
              <a:t>  • Decision Tree (max_depth=50)</a:t>
            </a:r>
          </a:p>
          <a:p>
            <a:pPr>
              <a:spcAft>
                <a:spcPts val="400"/>
              </a:spcAft>
              <a:defRPr sz="1600">
                <a:solidFill>
                  <a:srgbClr val="2C3E50"/>
                </a:solidFill>
                <a:latin typeface="Calibri"/>
              </a:defRPr>
            </a:pPr>
            <a:r>
              <a:t>  • Naive Bayes (MultinomialNB)</a:t>
            </a:r>
          </a:p>
          <a:p>
            <a:pPr>
              <a:spcAft>
                <a:spcPts val="400"/>
              </a:spcAft>
              <a:defRPr sz="1600">
                <a:solidFill>
                  <a:srgbClr val="2C3E50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600">
                <a:solidFill>
                  <a:srgbClr val="2C3E50"/>
                </a:solidFill>
                <a:latin typeface="Calibri"/>
              </a:defRPr>
            </a:pPr>
            <a:r>
              <a:t>Recurrent Neural Networks (BiRNN):</a:t>
            </a:r>
          </a:p>
          <a:p>
            <a:pPr>
              <a:spcAft>
                <a:spcPts val="400"/>
              </a:spcAft>
              <a:defRPr sz="1600">
                <a:solidFill>
                  <a:srgbClr val="2C3E50"/>
                </a:solidFill>
                <a:latin typeface="Calibri"/>
              </a:defRPr>
            </a:pPr>
            <a:r>
              <a:t>  • BiLSTM — 2-layer bidirectional LSTM</a:t>
            </a:r>
          </a:p>
          <a:p>
            <a:pPr>
              <a:spcAft>
                <a:spcPts val="400"/>
              </a:spcAft>
              <a:defRPr sz="1600">
                <a:solidFill>
                  <a:srgbClr val="2C3E50"/>
                </a:solidFill>
                <a:latin typeface="Calibri"/>
              </a:defRPr>
            </a:pPr>
            <a:r>
              <a:t>  • BiGRU — 2-layer bidirectional GRU</a:t>
            </a:r>
          </a:p>
          <a:p>
            <a:pPr>
              <a:spcAft>
                <a:spcPts val="400"/>
              </a:spcAft>
              <a:defRPr sz="1600">
                <a:solidFill>
                  <a:srgbClr val="2C3E50"/>
                </a:solidFill>
                <a:latin typeface="Calibri"/>
              </a:defRPr>
            </a:pPr>
            <a:r>
              <a:t>  • Embedding dim=128, Hidden dim=128</a:t>
            </a:r>
          </a:p>
          <a:p>
            <a:pPr>
              <a:spcAft>
                <a:spcPts val="400"/>
              </a:spcAft>
              <a:defRPr sz="1600">
                <a:solidFill>
                  <a:srgbClr val="2C3E50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600">
                <a:solidFill>
                  <a:srgbClr val="2C3E50"/>
                </a:solidFill>
                <a:latin typeface="Calibri"/>
              </a:defRPr>
            </a:pPr>
            <a:r>
              <a:t>Fine-tuned Transformers (HuggingFace Trainer):</a:t>
            </a:r>
          </a:p>
          <a:p>
            <a:pPr>
              <a:spcAft>
                <a:spcPts val="400"/>
              </a:spcAft>
              <a:defRPr sz="1600">
                <a:solidFill>
                  <a:srgbClr val="2C3E50"/>
                </a:solidFill>
                <a:latin typeface="Calibri"/>
              </a:defRPr>
            </a:pPr>
            <a:r>
              <a:t>  • Own-DistilBERT (distilbert-base-uncased)</a:t>
            </a:r>
          </a:p>
          <a:p>
            <a:pPr>
              <a:spcAft>
                <a:spcPts val="400"/>
              </a:spcAft>
              <a:defRPr sz="1600">
                <a:solidFill>
                  <a:srgbClr val="2C3E50"/>
                </a:solidFill>
                <a:latin typeface="Calibri"/>
              </a:defRPr>
            </a:pPr>
            <a:r>
              <a:t>  • Own-DistilRoBERTa (distilroberta-base)</a:t>
            </a:r>
          </a:p>
          <a:p>
            <a:pPr>
              <a:spcAft>
                <a:spcPts val="400"/>
              </a:spcAft>
              <a:defRPr sz="1600">
                <a:solidFill>
                  <a:srgbClr val="2C3E50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600">
                <a:solidFill>
                  <a:srgbClr val="2C3E50"/>
                </a:solidFill>
                <a:latin typeface="Calibri"/>
              </a:defRPr>
            </a:pPr>
            <a:r>
              <a:t>Pretrained Emotion Transformers:</a:t>
            </a:r>
          </a:p>
          <a:p>
            <a:pPr>
              <a:spcAft>
                <a:spcPts val="400"/>
              </a:spcAft>
              <a:defRPr sz="1600">
                <a:solidFill>
                  <a:srgbClr val="2C3E50"/>
                </a:solidFill>
                <a:latin typeface="Calibri"/>
              </a:defRPr>
            </a:pPr>
            <a:r>
              <a:t>  • Emotion-BERT (bhadresh-savani/bert-base-uncased-emotion)</a:t>
            </a:r>
          </a:p>
          <a:p>
            <a:pPr>
              <a:spcAft>
                <a:spcPts val="400"/>
              </a:spcAft>
              <a:defRPr sz="1600">
                <a:solidFill>
                  <a:srgbClr val="2C3E50"/>
                </a:solidFill>
                <a:latin typeface="Calibri"/>
              </a:defRPr>
            </a:pPr>
            <a:r>
              <a:t>  • Emotion-RoBERTa (SamLowe/roberta-base-go_emotions)</a:t>
            </a:r>
          </a:p>
          <a:p>
            <a:pPr>
              <a:spcAft>
                <a:spcPts val="400"/>
              </a:spcAft>
              <a:defRPr sz="1600">
                <a:solidFill>
                  <a:srgbClr val="2C3E50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600">
                <a:solidFill>
                  <a:srgbClr val="2C3E50"/>
                </a:solidFill>
                <a:latin typeface="Calibri"/>
              </a:defRPr>
            </a:pPr>
            <a:r>
              <a:t>XAI: LIME (classical + transformers), Integrated Gradients (RNN)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82880"/>
            <a:ext cx="12191695" cy="8229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Results — Macro F1 Score Comparison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280160"/>
          <a:ext cx="96012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1828800"/>
                <a:gridCol w="1828800"/>
                <a:gridCol w="1828800"/>
                <a:gridCol w="182880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Model</a:t>
                      </a:r>
                    </a:p>
                  </a:txBody>
                  <a:tcPr anchor="ctr">
                    <a:solidFill>
                      <a:srgbClr val="2980B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Combined_test</a:t>
                      </a:r>
                    </a:p>
                  </a:txBody>
                  <a:tcPr anchor="ctr">
                    <a:solidFill>
                      <a:srgbClr val="2980B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ISEAR</a:t>
                      </a:r>
                    </a:p>
                  </a:txBody>
                  <a:tcPr anchor="ctr">
                    <a:solidFill>
                      <a:srgbClr val="2980B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GoEmotions</a:t>
                      </a:r>
                    </a:p>
                  </a:txBody>
                  <a:tcPr anchor="ctr">
                    <a:solidFill>
                      <a:srgbClr val="2980B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Avg</a:t>
                      </a:r>
                    </a:p>
                  </a:txBody>
                  <a:tcPr anchor="ctr">
                    <a:solidFill>
                      <a:srgbClr val="2980B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Own-DistilBERT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0.9810</a:t>
                      </a:r>
                    </a:p>
                  </a:txBody>
                  <a:tcPr anchor="ctr">
                    <a:solidFill>
                      <a:srgbClr val="27AE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0.7409</a:t>
                      </a:r>
                    </a:p>
                  </a:txBody>
                  <a:tcPr anchor="ctr">
                    <a:solidFill>
                      <a:srgbClr val="2ECC7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0.5937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0.7719</a:t>
                      </a:r>
                    </a:p>
                  </a:txBody>
                  <a:tcPr anchor="ctr"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Own-DistilRoBERTa</a:t>
                      </a:r>
                    </a:p>
                  </a:txBody>
                  <a:tcPr anchor="ctr"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0.9808</a:t>
                      </a:r>
                    </a:p>
                  </a:txBody>
                  <a:tcPr anchor="ctr">
                    <a:solidFill>
                      <a:srgbClr val="27AE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0.6941</a:t>
                      </a:r>
                    </a:p>
                  </a:txBody>
                  <a:tcPr anchor="ctr"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0.5479</a:t>
                      </a:r>
                    </a:p>
                  </a:txBody>
                  <a:tcPr anchor="ctr"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0.7409</a:t>
                      </a:r>
                    </a:p>
                  </a:txBody>
                  <a:tcPr anchor="ctr">
                    <a:solidFill>
                      <a:srgbClr val="EBF5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BiLSTM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0.9766</a:t>
                      </a:r>
                    </a:p>
                  </a:txBody>
                  <a:tcPr anchor="ctr">
                    <a:solidFill>
                      <a:srgbClr val="27AE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0.4065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0.3714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0.5848</a:t>
                      </a:r>
                    </a:p>
                  </a:txBody>
                  <a:tcPr anchor="ctr"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BiGRU</a:t>
                      </a:r>
                    </a:p>
                  </a:txBody>
                  <a:tcPr anchor="ctr"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0.9758</a:t>
                      </a:r>
                    </a:p>
                  </a:txBody>
                  <a:tcPr anchor="ctr">
                    <a:solidFill>
                      <a:srgbClr val="27AE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0.5230</a:t>
                      </a:r>
                    </a:p>
                  </a:txBody>
                  <a:tcPr anchor="ctr"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0.3750</a:t>
                      </a:r>
                    </a:p>
                  </a:txBody>
                  <a:tcPr anchor="ctr"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0.6246</a:t>
                      </a:r>
                    </a:p>
                  </a:txBody>
                  <a:tcPr anchor="ctr">
                    <a:solidFill>
                      <a:srgbClr val="EBF5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Emotion-BERT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0.9730</a:t>
                      </a:r>
                    </a:p>
                  </a:txBody>
                  <a:tcPr anchor="ctr">
                    <a:solidFill>
                      <a:srgbClr val="27AE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0.7089</a:t>
                      </a:r>
                    </a:p>
                  </a:txBody>
                  <a:tcPr anchor="ctr">
                    <a:solidFill>
                      <a:srgbClr val="2ECC7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0.5799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0.7539</a:t>
                      </a:r>
                    </a:p>
                  </a:txBody>
                  <a:tcPr anchor="ctr"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SVM</a:t>
                      </a:r>
                    </a:p>
                  </a:txBody>
                  <a:tcPr anchor="ctr"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0.9513</a:t>
                      </a:r>
                    </a:p>
                  </a:txBody>
                  <a:tcPr anchor="ctr">
                    <a:solidFill>
                      <a:srgbClr val="27AE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0.6132</a:t>
                      </a:r>
                    </a:p>
                  </a:txBody>
                  <a:tcPr anchor="ctr"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0.4156</a:t>
                      </a:r>
                    </a:p>
                  </a:txBody>
                  <a:tcPr anchor="ctr"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0.6600</a:t>
                      </a:r>
                    </a:p>
                  </a:txBody>
                  <a:tcPr anchor="ctr">
                    <a:solidFill>
                      <a:srgbClr val="EBF5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NaiveBayes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0.9138</a:t>
                      </a:r>
                    </a:p>
                  </a:txBody>
                  <a:tcPr anchor="ctr">
                    <a:solidFill>
                      <a:srgbClr val="27AE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0.5998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0.4563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0.6566</a:t>
                      </a:r>
                    </a:p>
                  </a:txBody>
                  <a:tcPr anchor="ctr"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Emotion-RoBERTa</a:t>
                      </a:r>
                    </a:p>
                  </a:txBody>
                  <a:tcPr anchor="ctr"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0.5804</a:t>
                      </a:r>
                    </a:p>
                  </a:txBody>
                  <a:tcPr anchor="ctr"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0.6421</a:t>
                      </a:r>
                    </a:p>
                  </a:txBody>
                  <a:tcPr anchor="ctr"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0.7814</a:t>
                      </a:r>
                    </a:p>
                  </a:txBody>
                  <a:tcPr anchor="ctr">
                    <a:solidFill>
                      <a:srgbClr val="2ECC7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0.6680</a:t>
                      </a:r>
                    </a:p>
                  </a:txBody>
                  <a:tcPr anchor="ctr">
                    <a:solidFill>
                      <a:srgbClr val="EBF5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DecisionTree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0.5157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0.2839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0.1980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0.3325</a:t>
                      </a: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5943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7AE60"/>
                </a:solidFill>
                <a:latin typeface="Calibri"/>
              </a:defRPr>
            </a:pPr>
            <a:r>
              <a:t>Green cells = high performance. Own-DistilBERT is the best overall model (avg macro F1 = 0.7719)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82880"/>
            <a:ext cx="12191695" cy="8229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Best Model: Own-DistilBERT — Detailed Breakdown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188720"/>
          <a:ext cx="109728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1828800"/>
                <a:gridCol w="1828800"/>
                <a:gridCol w="1828800"/>
                <a:gridCol w="1828800"/>
                <a:gridCol w="137160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Dataset</a:t>
                      </a:r>
                    </a:p>
                  </a:txBody>
                  <a:tcPr anchor="ctr">
                    <a:solidFill>
                      <a:srgbClr val="2980B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Anger</a:t>
                      </a:r>
                    </a:p>
                  </a:txBody>
                  <a:tcPr anchor="ctr">
                    <a:solidFill>
                      <a:srgbClr val="2980B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Fear</a:t>
                      </a:r>
                    </a:p>
                  </a:txBody>
                  <a:tcPr anchor="ctr">
                    <a:solidFill>
                      <a:srgbClr val="2980B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Joy</a:t>
                      </a:r>
                    </a:p>
                  </a:txBody>
                  <a:tcPr anchor="ctr">
                    <a:solidFill>
                      <a:srgbClr val="2980B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Sadness</a:t>
                      </a:r>
                    </a:p>
                  </a:txBody>
                  <a:tcPr anchor="ctr">
                    <a:solidFill>
                      <a:srgbClr val="2980B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Avg F1</a:t>
                      </a:r>
                    </a:p>
                  </a:txBody>
                  <a:tcPr anchor="ctr">
                    <a:solidFill>
                      <a:srgbClr val="2980B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Combined_test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0.9718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0.9761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0.9929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0.9832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0.9810</a:t>
                      </a:r>
                    </a:p>
                  </a:txBody>
                  <a:tcPr anchor="ctr"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ISEAR</a:t>
                      </a:r>
                    </a:p>
                  </a:txBody>
                  <a:tcPr anchor="ctr"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0.7169</a:t>
                      </a:r>
                    </a:p>
                  </a:txBody>
                  <a:tcPr anchor="ctr"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0.8006</a:t>
                      </a:r>
                    </a:p>
                  </a:txBody>
                  <a:tcPr anchor="ctr"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0.7648</a:t>
                      </a:r>
                    </a:p>
                  </a:txBody>
                  <a:tcPr anchor="ctr"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0.6816</a:t>
                      </a:r>
                    </a:p>
                  </a:txBody>
                  <a:tcPr anchor="ctr"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0.7409</a:t>
                      </a:r>
                    </a:p>
                  </a:txBody>
                  <a:tcPr anchor="ctr">
                    <a:solidFill>
                      <a:srgbClr val="EBF5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GoEmotions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0.6631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0.4422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0.7168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0.5528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0.5937</a:t>
                      </a: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31520" y="3200400"/>
            <a:ext cx="10515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2C3E50"/>
                </a:solidFill>
                <a:latin typeface="Calibri"/>
              </a:defRPr>
            </a:pPr>
            <a:r>
              <a:t>Own-DistilBERT: fine-tuned distilbert-base-uncased (67M params) on 42k Combined training samples</a:t>
            </a:r>
          </a:p>
          <a:p>
            <a:pPr>
              <a:spcAft>
                <a:spcPts val="400"/>
              </a:spcAft>
              <a:defRPr sz="1600">
                <a:solidFill>
                  <a:srgbClr val="2C3E50"/>
                </a:solidFill>
                <a:latin typeface="Calibri"/>
              </a:defRPr>
            </a:pPr>
            <a:r>
              <a:t>Best in-domain (Combined_test): 0.9810 macro F1 — near-perfect classification</a:t>
            </a:r>
          </a:p>
          <a:p>
            <a:pPr>
              <a:spcAft>
                <a:spcPts val="400"/>
              </a:spcAft>
              <a:defRPr sz="1600">
                <a:solidFill>
                  <a:srgbClr val="2C3E50"/>
                </a:solidFill>
                <a:latin typeface="Calibri"/>
              </a:defRPr>
            </a:pPr>
            <a:r>
              <a:t>Good generalization on ISEAR (0.7409) — more formal, psychological language</a:t>
            </a:r>
          </a:p>
          <a:p>
            <a:pPr>
              <a:spcAft>
                <a:spcPts val="400"/>
              </a:spcAft>
              <a:defRPr sz="1600">
                <a:solidFill>
                  <a:srgbClr val="2C3E50"/>
                </a:solidFill>
                <a:latin typeface="Calibri"/>
              </a:defRPr>
            </a:pPr>
            <a:r>
              <a:t>Moderate on GoEmotions (0.5937) — informal Reddit text, different distribution</a:t>
            </a:r>
          </a:p>
          <a:p>
            <a:pPr>
              <a:spcAft>
                <a:spcPts val="400"/>
              </a:spcAft>
              <a:defRPr sz="1600">
                <a:solidFill>
                  <a:srgbClr val="2C3E50"/>
                </a:solidFill>
                <a:latin typeface="Calibri"/>
              </a:defRPr>
            </a:pPr>
            <a:r>
              <a:t>Fear is hardest class on GoEmotions (0.4422) — due to class imbalance in training</a:t>
            </a:r>
          </a:p>
          <a:p>
            <a:pPr>
              <a:spcAft>
                <a:spcPts val="400"/>
              </a:spcAft>
              <a:defRPr sz="1600">
                <a:solidFill>
                  <a:srgbClr val="2C3E50"/>
                </a:solidFill>
                <a:latin typeface="Calibri"/>
              </a:defRPr>
            </a:pPr>
            <a:r>
              <a:t>Training configuration: 3 epochs, batch_size=16, lr=2e-5, max_len=64, fp16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82880"/>
            <a:ext cx="12191695" cy="8229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Model Comparison Insights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12471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2C3E50"/>
                </a:solidFill>
                <a:latin typeface="Calibri"/>
              </a:defRPr>
            </a:pPr>
            <a:r>
              <a:t>In-Domain (Combined_test):</a:t>
            </a:r>
          </a:p>
          <a:p>
            <a:pPr>
              <a:spcAft>
                <a:spcPts val="400"/>
              </a:spcAft>
              <a:defRPr sz="1600">
                <a:solidFill>
                  <a:srgbClr val="2C3E50"/>
                </a:solidFill>
                <a:latin typeface="Calibri"/>
              </a:defRPr>
            </a:pPr>
            <a:r>
              <a:t>  • All Transformers + RNNs score &gt;0.97 macro F1 — saturation on in-distribution data</a:t>
            </a:r>
          </a:p>
          <a:p>
            <a:pPr>
              <a:spcAft>
                <a:spcPts val="400"/>
              </a:spcAft>
              <a:defRPr sz="1600">
                <a:solidFill>
                  <a:srgbClr val="2C3E50"/>
                </a:solidFill>
                <a:latin typeface="Calibri"/>
              </a:defRPr>
            </a:pPr>
            <a:r>
              <a:t>  • SVM and NaiveBayes also strong (0.95, 0.91) with much lower training cost</a:t>
            </a:r>
          </a:p>
          <a:p>
            <a:pPr>
              <a:spcAft>
                <a:spcPts val="400"/>
              </a:spcAft>
              <a:defRPr sz="1600">
                <a:solidFill>
                  <a:srgbClr val="2C3E50"/>
                </a:solidFill>
                <a:latin typeface="Calibri"/>
              </a:defRPr>
            </a:pPr>
            <a:r>
              <a:t>  • DecisionTree severely limited (0.52) — insufficient depth for text classification</a:t>
            </a:r>
          </a:p>
          <a:p>
            <a:pPr>
              <a:spcAft>
                <a:spcPts val="400"/>
              </a:spcAft>
              <a:defRPr sz="1600">
                <a:solidFill>
                  <a:srgbClr val="2C3E50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600">
                <a:solidFill>
                  <a:srgbClr val="2C3E50"/>
                </a:solidFill>
                <a:latin typeface="Calibri"/>
              </a:defRPr>
            </a:pPr>
            <a:r>
              <a:t>Cross-Domain — ISEAR (psychological text):</a:t>
            </a:r>
          </a:p>
          <a:p>
            <a:pPr>
              <a:spcAft>
                <a:spcPts val="400"/>
              </a:spcAft>
              <a:defRPr sz="1600">
                <a:solidFill>
                  <a:srgbClr val="2C3E50"/>
                </a:solidFill>
                <a:latin typeface="Calibri"/>
              </a:defRPr>
            </a:pPr>
            <a:r>
              <a:t>  • Own-DistilBERT (0.74) and Emotion-BERT (0.71) generalize best</a:t>
            </a:r>
          </a:p>
          <a:p>
            <a:pPr>
              <a:spcAft>
                <a:spcPts val="400"/>
              </a:spcAft>
              <a:defRPr sz="1600">
                <a:solidFill>
                  <a:srgbClr val="2C3E50"/>
                </a:solidFill>
                <a:latin typeface="Calibri"/>
              </a:defRPr>
            </a:pPr>
            <a:r>
              <a:t>  • BiLSTM collapses to 0.41 — overfits to Combined distribution</a:t>
            </a:r>
          </a:p>
          <a:p>
            <a:pPr>
              <a:spcAft>
                <a:spcPts val="400"/>
              </a:spcAft>
              <a:defRPr sz="1600">
                <a:solidFill>
                  <a:srgbClr val="2C3E50"/>
                </a:solidFill>
                <a:latin typeface="Calibri"/>
              </a:defRPr>
            </a:pPr>
            <a:r>
              <a:t>  • DecisionTree and RNNs suffer most: linguistic patterns don't transfer</a:t>
            </a:r>
          </a:p>
          <a:p>
            <a:pPr>
              <a:spcAft>
                <a:spcPts val="400"/>
              </a:spcAft>
              <a:defRPr sz="1600">
                <a:solidFill>
                  <a:srgbClr val="2C3E50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600">
                <a:solidFill>
                  <a:srgbClr val="2C3E50"/>
                </a:solidFill>
                <a:latin typeface="Calibri"/>
              </a:defRPr>
            </a:pPr>
            <a:r>
              <a:t>Cross-Domain — GoEmotions (Reddit):</a:t>
            </a:r>
          </a:p>
          <a:p>
            <a:pPr>
              <a:spcAft>
                <a:spcPts val="400"/>
              </a:spcAft>
              <a:defRPr sz="1600">
                <a:solidFill>
                  <a:srgbClr val="2C3E50"/>
                </a:solidFill>
                <a:latin typeface="Calibri"/>
              </a:defRPr>
            </a:pPr>
            <a:r>
              <a:t>  • Emotion-RoBERTa (0.78) is best — it was pretrained on GoEmotions itself!</a:t>
            </a:r>
          </a:p>
          <a:p>
            <a:pPr>
              <a:spcAft>
                <a:spcPts val="400"/>
              </a:spcAft>
              <a:defRPr sz="1600">
                <a:solidFill>
                  <a:srgbClr val="2C3E50"/>
                </a:solidFill>
                <a:latin typeface="Calibri"/>
              </a:defRPr>
            </a:pPr>
            <a:r>
              <a:t>  • Own-DistilBERT (0.59) and Emotion-BERT (0.58) follow</a:t>
            </a:r>
          </a:p>
          <a:p>
            <a:pPr>
              <a:spcAft>
                <a:spcPts val="400"/>
              </a:spcAft>
              <a:defRPr sz="1600">
                <a:solidFill>
                  <a:srgbClr val="2C3E50"/>
                </a:solidFill>
                <a:latin typeface="Calibri"/>
              </a:defRPr>
            </a:pPr>
            <a:r>
              <a:t>  • Classical models and RNNs drop below 0.46 — vocabulary mismatch hurts TF-IDF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82880"/>
            <a:ext cx="12191695" cy="8229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Training Curves — Transformers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286000"/>
            <a:ext cx="10515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Training curves not available (checkpoints/ must contain trainer_state.json)</a:t>
            </a:r>
          </a:p>
          <a:p>
            <a:pPr>
              <a:spcAft>
                <a:spcPts val="4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Both models converged well within 3 epochs with validation macro F1 ~0.98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82880"/>
            <a:ext cx="12191695" cy="8229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Confusion Matrices — Best Model</a:t>
            </a:r>
          </a:p>
        </p:txBody>
      </p:sp>
      <p:pic>
        <p:nvPicPr>
          <p:cNvPr id="4" name="Picture 3" descr="confusion_matrix_gri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88720"/>
            <a:ext cx="11612880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82880"/>
            <a:ext cx="12191695" cy="8229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XAI — Model Explainability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12471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2C3E50"/>
                </a:solidFill>
                <a:latin typeface="Calibri"/>
              </a:defRPr>
            </a:pPr>
            <a:r>
              <a:t>LIME (Local Interpretable Model-agnostic Explanations):</a:t>
            </a:r>
          </a:p>
          <a:p>
            <a:pPr>
              <a:spcAft>
                <a:spcPts val="400"/>
              </a:spcAft>
              <a:defRPr sz="1500">
                <a:solidFill>
                  <a:srgbClr val="2C3E50"/>
                </a:solidFill>
                <a:latin typeface="Calibri"/>
              </a:defRPr>
            </a:pPr>
            <a:r>
              <a:t>  • Applied to classical ML (NaiveBayes, DecisionTree) and transformers</a:t>
            </a:r>
          </a:p>
          <a:p>
            <a:pPr>
              <a:spcAft>
                <a:spcPts val="400"/>
              </a:spcAft>
              <a:defRPr sz="1500">
                <a:solidFill>
                  <a:srgbClr val="2C3E50"/>
                </a:solidFill>
                <a:latin typeface="Calibri"/>
              </a:defRPr>
            </a:pPr>
            <a:r>
              <a:t>  • Highlights individual tokens contributing to each prediction</a:t>
            </a:r>
          </a:p>
          <a:p>
            <a:pPr>
              <a:spcAft>
                <a:spcPts val="400"/>
              </a:spcAft>
              <a:defRPr sz="1500">
                <a:solidFill>
                  <a:srgbClr val="2C3E50"/>
                </a:solidFill>
                <a:latin typeface="Calibri"/>
              </a:defRPr>
            </a:pPr>
            <a:r>
              <a:t>  • Computes feature importance by perturbing input text</a:t>
            </a:r>
          </a:p>
          <a:p>
            <a:pPr>
              <a:spcAft>
                <a:spcPts val="400"/>
              </a:spcAft>
              <a:defRPr sz="1500">
                <a:solidFill>
                  <a:srgbClr val="2C3E50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500">
                <a:solidFill>
                  <a:srgbClr val="2C3E50"/>
                </a:solidFill>
                <a:latin typeface="Calibri"/>
              </a:defRPr>
            </a:pPr>
            <a:r>
              <a:t>Integrated Gradients (Captum):</a:t>
            </a:r>
          </a:p>
          <a:p>
            <a:pPr>
              <a:spcAft>
                <a:spcPts val="400"/>
              </a:spcAft>
              <a:defRPr sz="1500">
                <a:solidFill>
                  <a:srgbClr val="2C3E50"/>
                </a:solidFill>
                <a:latin typeface="Calibri"/>
              </a:defRPr>
            </a:pPr>
            <a:r>
              <a:t>  • Applied to BiLSTM and BiGRU via embedding layer attribution</a:t>
            </a:r>
          </a:p>
          <a:p>
            <a:pPr>
              <a:spcAft>
                <a:spcPts val="400"/>
              </a:spcAft>
              <a:defRPr sz="1500">
                <a:solidFill>
                  <a:srgbClr val="2C3E50"/>
                </a:solidFill>
                <a:latin typeface="Calibri"/>
              </a:defRPr>
            </a:pPr>
            <a:r>
              <a:t>  • Attribute importance scores to each input token</a:t>
            </a:r>
          </a:p>
          <a:p>
            <a:pPr>
              <a:spcAft>
                <a:spcPts val="400"/>
              </a:spcAft>
              <a:defRPr sz="1500">
                <a:solidFill>
                  <a:srgbClr val="2C3E50"/>
                </a:solidFill>
                <a:latin typeface="Calibri"/>
              </a:defRPr>
            </a:pPr>
            <a:r>
              <a:t>  • Gradient-based method with baseline comparison</a:t>
            </a:r>
          </a:p>
          <a:p>
            <a:pPr>
              <a:spcAft>
                <a:spcPts val="400"/>
              </a:spcAft>
              <a:defRPr sz="1500">
                <a:solidFill>
                  <a:srgbClr val="2C3E50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500">
                <a:solidFill>
                  <a:srgbClr val="2C3E50"/>
                </a:solidFill>
                <a:latin typeface="Calibri"/>
              </a:defRPr>
            </a:pPr>
            <a:r>
              <a:t>XAI Similarity Analysis (Jaccard, Spearman, Cosine):</a:t>
            </a:r>
          </a:p>
          <a:p>
            <a:pPr>
              <a:spcAft>
                <a:spcPts val="400"/>
              </a:spcAft>
              <a:defRPr sz="1500">
                <a:solidFill>
                  <a:srgbClr val="2C3E50"/>
                </a:solidFill>
                <a:latin typeface="Calibri"/>
              </a:defRPr>
            </a:pPr>
            <a:r>
              <a:t>  • BiGRU vs BiLSTM: highest agreement (cosine=0.86, jaccard=0.69) — similar RNN architecture</a:t>
            </a:r>
          </a:p>
          <a:p>
            <a:pPr>
              <a:spcAft>
                <a:spcPts val="400"/>
              </a:spcAft>
              <a:defRPr sz="1500">
                <a:solidFill>
                  <a:srgbClr val="2C3E50"/>
                </a:solidFill>
                <a:latin typeface="Calibri"/>
              </a:defRPr>
            </a:pPr>
            <a:r>
              <a:t>  • LIME_Own-DistilBERT vs LIME_Own-DistilRoBERTa: high agreement (cosine=0.93) — similar transformer attention</a:t>
            </a:r>
          </a:p>
          <a:p>
            <a:pPr>
              <a:spcAft>
                <a:spcPts val="400"/>
              </a:spcAft>
              <a:defRPr sz="1500">
                <a:solidFill>
                  <a:srgbClr val="2C3E50"/>
                </a:solidFill>
                <a:latin typeface="Calibri"/>
              </a:defRPr>
            </a:pPr>
            <a:r>
              <a:t>  • DecisionTree vs all others: lowest agreement — fundamentally different decision process</a:t>
            </a:r>
          </a:p>
          <a:p>
            <a:pPr>
              <a:spcAft>
                <a:spcPts val="400"/>
              </a:spcAft>
              <a:defRPr sz="1500">
                <a:solidFill>
                  <a:srgbClr val="2C3E50"/>
                </a:solidFill>
                <a:latin typeface="Calibri"/>
              </a:defRPr>
            </a:pPr>
            <a:r>
              <a:t>  • RNN and Transformer explanations show moderate correlation: both capture similar linguistic patterns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82880"/>
            <a:ext cx="12191695" cy="8229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XAI — Top Token Attributions (Sample)</a:t>
            </a:r>
          </a:p>
        </p:txBody>
      </p:sp>
      <p:pic>
        <p:nvPicPr>
          <p:cNvPr id="4" name="Picture 3" descr="xai_IG_BiGRU_sample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0"/>
            <a:ext cx="3749039" cy="2286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74320" y="3703320"/>
            <a:ext cx="37490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C3E50"/>
                </a:solidFill>
                <a:latin typeface="Calibri"/>
              </a:defRPr>
            </a:pPr>
            <a:r>
              <a:t>IG_BiGRU_sample0</a:t>
            </a:r>
          </a:p>
        </p:txBody>
      </p:sp>
      <p:pic>
        <p:nvPicPr>
          <p:cNvPr id="6" name="Picture 5" descr="xai_IG_BiLSTM_sample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6240" y="1371600"/>
            <a:ext cx="3749039" cy="2286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206240" y="3703320"/>
            <a:ext cx="37490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C3E50"/>
                </a:solidFill>
                <a:latin typeface="Calibri"/>
              </a:defRPr>
            </a:pPr>
            <a:r>
              <a:t>IG_BiLSTM_sample0</a:t>
            </a:r>
          </a:p>
        </p:txBody>
      </p:sp>
      <p:pic>
        <p:nvPicPr>
          <p:cNvPr id="8" name="Picture 7" descr="xai_LIME_DecisionTree_sample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38160" y="1371600"/>
            <a:ext cx="3749039" cy="22860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138160" y="3703320"/>
            <a:ext cx="37490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C3E50"/>
                </a:solidFill>
                <a:latin typeface="Calibri"/>
              </a:defRPr>
            </a:pPr>
            <a:r>
              <a:t>LIME_DecisionTree_sample0</a:t>
            </a:r>
          </a:p>
        </p:txBody>
      </p:sp>
      <p:pic>
        <p:nvPicPr>
          <p:cNvPr id="10" name="Picture 9" descr="xai_LIME_DistilBERT_sample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4320" y="3931920"/>
            <a:ext cx="3749039" cy="22860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274320" y="6263640"/>
            <a:ext cx="37490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C3E50"/>
                </a:solidFill>
                <a:latin typeface="Calibri"/>
              </a:defRPr>
            </a:pPr>
            <a:r>
              <a:t>LIME_DistilBERT_sample0</a:t>
            </a:r>
          </a:p>
        </p:txBody>
      </p:sp>
      <p:pic>
        <p:nvPicPr>
          <p:cNvPr id="12" name="Picture 11" descr="xai_LIME_DistilRoBERTa_sample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06240" y="3931920"/>
            <a:ext cx="3749039" cy="22860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206240" y="6263640"/>
            <a:ext cx="37490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C3E50"/>
                </a:solidFill>
                <a:latin typeface="Calibri"/>
              </a:defRPr>
            </a:pPr>
            <a:r>
              <a:t>LIME_DistilRoBERTa_sample0</a:t>
            </a:r>
          </a:p>
        </p:txBody>
      </p:sp>
      <p:pic>
        <p:nvPicPr>
          <p:cNvPr id="14" name="Picture 13" descr="xai_LIME_NaiveBayes_sample0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38160" y="3931920"/>
            <a:ext cx="3749039" cy="22860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138160" y="6263640"/>
            <a:ext cx="37490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C3E50"/>
                </a:solidFill>
                <a:latin typeface="Calibri"/>
              </a:defRPr>
            </a:pPr>
            <a:r>
              <a:t>LIME_NaiveBayes_sample0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594360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2C3E50"/>
                </a:solidFill>
                <a:latin typeface="Calibri"/>
              </a:defRPr>
            </a:pPr>
            <a:r>
              <a:t>LIME: top tokens usually sentiment-bearing words (e.g., 'love', 'hate', 'cried', 'scared')</a:t>
            </a:r>
          </a:p>
          <a:p>
            <a:pPr>
              <a:spcAft>
                <a:spcPts val="400"/>
              </a:spcAft>
              <a:defRPr sz="1300">
                <a:solidFill>
                  <a:srgbClr val="2C3E50"/>
                </a:solidFill>
                <a:latin typeface="Calibri"/>
              </a:defRPr>
            </a:pPr>
            <a:r>
              <a:t>Integrated Gradients: focuses on emotional keywords and negations</a:t>
            </a:r>
          </a:p>
          <a:p>
            <a:pPr>
              <a:spcAft>
                <a:spcPts val="400"/>
              </a:spcAft>
              <a:defRPr sz="1300">
                <a:solidFill>
                  <a:srgbClr val="2C3E50"/>
                </a:solidFill>
                <a:latin typeface="Calibri"/>
              </a:defRPr>
            </a:pPr>
            <a:r>
              <a:t>Transformers show more distributed attention across tokens than classical models</a:t>
            </a:r>
          </a:p>
          <a:p>
            <a:pPr>
              <a:spcAft>
                <a:spcPts val="400"/>
              </a:spcAft>
              <a:defRPr sz="1300">
                <a:solidFill>
                  <a:srgbClr val="2C3E50"/>
                </a:solidFill>
                <a:latin typeface="Calibri"/>
              </a:defRPr>
            </a:pPr>
            <a:r>
              <a:t>Different models highlight similar key tokens for same emotion classes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82880"/>
            <a:ext cx="12191695" cy="8229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Conclusions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188720"/>
          <a:ext cx="105156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1828800"/>
                <a:gridCol w="1828800"/>
                <a:gridCol w="1828800"/>
                <a:gridCol w="274320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Model</a:t>
                      </a:r>
                    </a:p>
                  </a:txBody>
                  <a:tcPr anchor="ctr">
                    <a:solidFill>
                      <a:srgbClr val="2980B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Combined_test</a:t>
                      </a:r>
                    </a:p>
                  </a:txBody>
                  <a:tcPr anchor="ctr">
                    <a:solidFill>
                      <a:srgbClr val="2980B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ISEAR</a:t>
                      </a:r>
                    </a:p>
                  </a:txBody>
                  <a:tcPr anchor="ctr">
                    <a:solidFill>
                      <a:srgbClr val="2980B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GoEmotions</a:t>
                      </a:r>
                    </a:p>
                  </a:txBody>
                  <a:tcPr anchor="ctr">
                    <a:solidFill>
                      <a:srgbClr val="2980B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Best For</a:t>
                      </a:r>
                    </a:p>
                  </a:txBody>
                  <a:tcPr anchor="ctr">
                    <a:solidFill>
                      <a:srgbClr val="2980B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Own-DistilBERT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0.9810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0.7409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0.5937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Overall best generalization</a:t>
                      </a:r>
                    </a:p>
                  </a:txBody>
                  <a:tcPr anchor="ctr"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Emotion-BERT</a:t>
                      </a:r>
                    </a:p>
                  </a:txBody>
                  <a:tcPr anchor="ctr"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0.9730</a:t>
                      </a:r>
                    </a:p>
                  </a:txBody>
                  <a:tcPr anchor="ctr"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0.7089</a:t>
                      </a:r>
                    </a:p>
                  </a:txBody>
                  <a:tcPr anchor="ctr"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0.5799</a:t>
                      </a:r>
                    </a:p>
                  </a:txBody>
                  <a:tcPr anchor="ctr"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Zero-shot transfer</a:t>
                      </a:r>
                    </a:p>
                  </a:txBody>
                  <a:tcPr anchor="ctr">
                    <a:solidFill>
                      <a:srgbClr val="EBF5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Emotion-RoBERTa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0.5804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0.6421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0.7814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GoEmotions specialist</a:t>
                      </a:r>
                    </a:p>
                  </a:txBody>
                  <a:tcPr anchor="ctr"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SVM + TF-IDF</a:t>
                      </a:r>
                    </a:p>
                  </a:txBody>
                  <a:tcPr anchor="ctr"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0.9513</a:t>
                      </a:r>
                    </a:p>
                  </a:txBody>
                  <a:tcPr anchor="ctr"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0.6132</a:t>
                      </a:r>
                    </a:p>
                  </a:txBody>
                  <a:tcPr anchor="ctr"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0.4156</a:t>
                      </a:r>
                    </a:p>
                  </a:txBody>
                  <a:tcPr anchor="ctr"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Fast, interpretable baseline</a:t>
                      </a:r>
                    </a:p>
                  </a:txBody>
                  <a:tcPr anchor="ctr">
                    <a:solidFill>
                      <a:srgbClr val="EBF5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BiGRU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0.9758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0.5230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0.3750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Good in-domain only</a:t>
                      </a: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4114800"/>
            <a:ext cx="112471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2C3E50"/>
                </a:solidFill>
                <a:latin typeface="Calibri"/>
              </a:defRPr>
            </a:pPr>
            <a:r>
              <a:t>Own-DistilBERT (fine-tuned) provides the best balance of accuracy and generalization across domains</a:t>
            </a:r>
          </a:p>
          <a:p>
            <a:pPr>
              <a:spcAft>
                <a:spcPts val="400"/>
              </a:spcAft>
              <a:defRPr sz="1600">
                <a:solidFill>
                  <a:srgbClr val="2C3E50"/>
                </a:solidFill>
                <a:latin typeface="Calibri"/>
              </a:defRPr>
            </a:pPr>
            <a:r>
              <a:t>Pretrained Emotion-BERT works well zero-shot without fine-tuning on target data</a:t>
            </a:r>
          </a:p>
          <a:p>
            <a:pPr>
              <a:spcAft>
                <a:spcPts val="400"/>
              </a:spcAft>
              <a:defRPr sz="1600">
                <a:solidFill>
                  <a:srgbClr val="2C3E50"/>
                </a:solidFill>
                <a:latin typeface="Calibri"/>
              </a:defRPr>
            </a:pPr>
            <a:r>
              <a:t>Classical ML (SVM) is surprisingly competitive in-domain and on formal text (ISEAR) at minimal cost</a:t>
            </a:r>
          </a:p>
          <a:p>
            <a:pPr>
              <a:spcAft>
                <a:spcPts val="400"/>
              </a:spcAft>
              <a:defRPr sz="1600">
                <a:solidFill>
                  <a:srgbClr val="2C3E50"/>
                </a:solidFill>
                <a:latin typeface="Calibri"/>
              </a:defRPr>
            </a:pPr>
            <a:r>
              <a:t>Cross-domain generalization remains the key challenge — especially from curated to social media text</a:t>
            </a:r>
          </a:p>
          <a:p>
            <a:pPr>
              <a:spcAft>
                <a:spcPts val="400"/>
              </a:spcAft>
              <a:defRPr sz="1600">
                <a:solidFill>
                  <a:srgbClr val="2C3E50"/>
                </a:solidFill>
                <a:latin typeface="Calibri"/>
              </a:defRPr>
            </a:pPr>
            <a:r>
              <a:t>RNNs (BiLSTM, BiGRU) perform well in-domain but overfit and don't transfer to different domains</a:t>
            </a:r>
          </a:p>
          <a:p>
            <a:pPr>
              <a:spcAft>
                <a:spcPts val="400"/>
              </a:spcAft>
              <a:defRPr sz="1600">
                <a:solidFill>
                  <a:srgbClr val="2C3E50"/>
                </a:solidFill>
                <a:latin typeface="Calibri"/>
              </a:defRPr>
            </a:pPr>
            <a:r>
              <a:t>XAI reveals that different model families focus on similar emotional keywords, but with different decision boundaries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82880"/>
            <a:ext cx="12191695" cy="8229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References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12471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2C3E50"/>
                </a:solidFill>
                <a:latin typeface="Calibri"/>
              </a:defRPr>
            </a:pPr>
            <a:r>
              <a:t>Datasets:</a:t>
            </a:r>
          </a:p>
          <a:p>
            <a:pPr>
              <a:spcAft>
                <a:spcPts val="400"/>
              </a:spcAft>
              <a:defRPr sz="1600">
                <a:solidFill>
                  <a:srgbClr val="2C3E50"/>
                </a:solidFill>
                <a:latin typeface="Calibri"/>
              </a:defRPr>
            </a:pPr>
            <a:r>
              <a:t>  • Combined: kaggle.com/datasets/kushagra3204/sentiment-and-emotion-analysis-dataset</a:t>
            </a:r>
          </a:p>
          <a:p>
            <a:pPr>
              <a:spcAft>
                <a:spcPts val="400"/>
              </a:spcAft>
              <a:defRPr sz="1600">
                <a:solidFill>
                  <a:srgbClr val="2C3E50"/>
                </a:solidFill>
                <a:latin typeface="Calibri"/>
              </a:defRPr>
            </a:pPr>
            <a:r>
              <a:t>  • ISEAR: kaggle.com/datasets/faisalsanto007/isear-dataset</a:t>
            </a:r>
          </a:p>
          <a:p>
            <a:pPr>
              <a:spcAft>
                <a:spcPts val="400"/>
              </a:spcAft>
              <a:defRPr sz="1600">
                <a:solidFill>
                  <a:srgbClr val="2C3E50"/>
                </a:solidFill>
                <a:latin typeface="Calibri"/>
              </a:defRPr>
            </a:pPr>
            <a:r>
              <a:t>  • GoEmotions: kaggle.com/datasets/debarshichanda/goemotions</a:t>
            </a:r>
          </a:p>
          <a:p>
            <a:pPr>
              <a:spcAft>
                <a:spcPts val="400"/>
              </a:spcAft>
              <a:defRPr sz="1600">
                <a:solidFill>
                  <a:srgbClr val="2C3E50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600">
                <a:solidFill>
                  <a:srgbClr val="2C3E50"/>
                </a:solidFill>
                <a:latin typeface="Calibri"/>
              </a:defRPr>
            </a:pPr>
            <a:r>
              <a:t>Pretrained Models (HuggingFace):</a:t>
            </a:r>
          </a:p>
          <a:p>
            <a:pPr>
              <a:spcAft>
                <a:spcPts val="400"/>
              </a:spcAft>
              <a:defRPr sz="1600">
                <a:solidFill>
                  <a:srgbClr val="2C3E50"/>
                </a:solidFill>
                <a:latin typeface="Calibri"/>
              </a:defRPr>
            </a:pPr>
            <a:r>
              <a:t>  • Emotion-RoBERTa: SamLowe/roberta-base-go_emotions</a:t>
            </a:r>
          </a:p>
          <a:p>
            <a:pPr>
              <a:spcAft>
                <a:spcPts val="400"/>
              </a:spcAft>
              <a:defRPr sz="1600">
                <a:solidFill>
                  <a:srgbClr val="2C3E50"/>
                </a:solidFill>
                <a:latin typeface="Calibri"/>
              </a:defRPr>
            </a:pPr>
            <a:r>
              <a:t>  • Emotion-BERT: bhadresh-savani/bert-base-uncased-emotion</a:t>
            </a:r>
          </a:p>
          <a:p>
            <a:pPr>
              <a:spcAft>
                <a:spcPts val="400"/>
              </a:spcAft>
              <a:defRPr sz="1600">
                <a:solidFill>
                  <a:srgbClr val="2C3E50"/>
                </a:solidFill>
                <a:latin typeface="Calibri"/>
              </a:defRPr>
            </a:pPr>
            <a:r>
              <a:t>  • DistilBERT: distilbert-base-uncased</a:t>
            </a:r>
          </a:p>
          <a:p>
            <a:pPr>
              <a:spcAft>
                <a:spcPts val="400"/>
              </a:spcAft>
              <a:defRPr sz="1600">
                <a:solidFill>
                  <a:srgbClr val="2C3E50"/>
                </a:solidFill>
                <a:latin typeface="Calibri"/>
              </a:defRPr>
            </a:pPr>
            <a:r>
              <a:t>  • DistilRoBERTa: distilroberta-base</a:t>
            </a:r>
          </a:p>
          <a:p>
            <a:pPr>
              <a:spcAft>
                <a:spcPts val="400"/>
              </a:spcAft>
              <a:defRPr sz="1600">
                <a:solidFill>
                  <a:srgbClr val="2C3E50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600">
                <a:solidFill>
                  <a:srgbClr val="2C3E50"/>
                </a:solidFill>
                <a:latin typeface="Calibri"/>
              </a:defRPr>
            </a:pPr>
            <a:r>
              <a:t>Libraries: scikit-learn, PyTorch, HuggingFace Transformers, Captum, LIME, matplotlib, seaborn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